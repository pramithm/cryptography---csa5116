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234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56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5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27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548640"/>
            <a:ext cx="457200" cy="457200"/>
          </a:xfrm>
          <a:prstGeom prst="ellipse">
            <a:avLst/>
          </a:prstGeom>
          <a:solidFill>
            <a:srgbClr val="2E86C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5303520"/>
            <a:ext cx="640080" cy="640080"/>
          </a:xfrm>
          <a:prstGeom prst="ellipse">
            <a:avLst/>
          </a:prstGeom>
          <a:solidFill>
            <a:srgbClr val="2E86C1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5852160"/>
            <a:ext cx="320040" cy="320040"/>
          </a:xfrm>
          <a:prstGeom prst="ellipse">
            <a:avLst/>
          </a:prstGeom>
          <a:solidFill>
            <a:srgbClr val="2E86C1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50528" y="2514600"/>
            <a:ext cx="1920240" cy="1920240"/>
          </a:xfrm>
          <a:prstGeom prst="ellipse">
            <a:avLst/>
          </a:prstGeom>
          <a:ln w="25400">
            <a:solidFill>
              <a:srgbClr val="5DAD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24848" y="2788920"/>
            <a:ext cx="1371600" cy="137160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8" name="Image 0" descr="/home/claude/vigenere_ppt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888" y="310896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4892040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• ENCRYPTED • VERIFIED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1417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ENGINEERING  •  SEMINAR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1828800"/>
            <a:ext cx="7223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Vigenère Cipher and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Encryption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WhatsApp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658368" y="4251960"/>
            <a:ext cx="1371600" cy="411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52628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n-US" sz="17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</a:t>
            </a:r>
            <a:r>
              <a:rPr lang="en-US" sz="1700" b="1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7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Pramith Maredukonda</a:t>
            </a:r>
          </a:p>
          <a:p>
            <a:pPr>
              <a:lnSpc>
                <a:spcPts val="2400"/>
              </a:lnSpc>
            </a:pPr>
            <a:r>
              <a:rPr lang="en-US" sz="17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</a:t>
            </a:r>
            <a:r>
              <a:rPr lang="en-US" sz="17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192372174</a:t>
            </a:r>
            <a:r>
              <a:rPr lang="en-US" sz="17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7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:  </a:t>
            </a:r>
            <a:r>
              <a:rPr lang="en-US" sz="17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 (Artificial Intelligence)
</a:t>
            </a:r>
            <a:r>
              <a:rPr lang="en-US" sz="17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:  </a:t>
            </a:r>
            <a:r>
              <a:rPr lang="en-US" sz="17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Saveetha School of Engineering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Cryptography?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science of securing information. It protects data from unauthorized access by transforming readable content into a form only intended parties can interpret.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EAF2F8"/>
          </a:solidFill>
          <a:ln/>
        </p:spPr>
      </p:sp>
      <p:pic>
        <p:nvPicPr>
          <p:cNvPr id="8" name="Image 0" descr="/home/claude/vigenere_ppt/icons/ban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8117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03320" y="2697480"/>
            <a:ext cx="457200" cy="457200"/>
          </a:xfrm>
          <a:prstGeom prst="ellipse">
            <a:avLst/>
          </a:prstGeom>
          <a:solidFill>
            <a:srgbClr val="EAF2F8"/>
          </a:solidFill>
          <a:ln/>
        </p:spPr>
      </p:sp>
      <p:pic>
        <p:nvPicPr>
          <p:cNvPr id="11" name="Image 1" descr="/home/claude/vigenere_ppt/icons/commen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620" y="28117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0248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Applications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EAF2F8"/>
          </a:solidFill>
          <a:ln/>
        </p:spPr>
      </p:sp>
      <p:pic>
        <p:nvPicPr>
          <p:cNvPr id="14" name="Image 2" descr="/home/claude/vigenere_ppt/icons/cloud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347014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355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03320" y="3355848"/>
            <a:ext cx="457200" cy="457200"/>
          </a:xfrm>
          <a:prstGeom prst="ellipse">
            <a:avLst/>
          </a:prstGeom>
          <a:solidFill>
            <a:srgbClr val="EAF2F8"/>
          </a:solidFill>
          <a:ln/>
        </p:spPr>
      </p:sp>
      <p:pic>
        <p:nvPicPr>
          <p:cNvPr id="17" name="Image 3" descr="/home/claude/vigenere_ppt/icons/cart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7620" y="3470148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270248" y="3355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EAF2F8"/>
          </a:solidFill>
          <a:ln/>
        </p:spPr>
      </p:sp>
      <p:pic>
        <p:nvPicPr>
          <p:cNvPr id="20" name="Image 4" descr="/home/claude/vigenere_ppt/icons/landmark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" y="4128516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15568" y="40142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Systems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48640" y="4892040"/>
            <a:ext cx="6309360" cy="1234440"/>
          </a:xfrm>
          <a:prstGeom prst="roundRect">
            <a:avLst>
              <a:gd name="adj" fmla="val 7407"/>
            </a:avLst>
          </a:prstGeom>
          <a:solidFill>
            <a:srgbClr val="F4F9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43000" y="5074920"/>
            <a:ext cx="685800" cy="6858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24" name="Image 5" descr="/home/claude/vigenere_ppt/icons/us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4450" y="5246370"/>
            <a:ext cx="342900" cy="3429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144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2569464" y="5312664"/>
            <a:ext cx="393192" cy="201168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27" name="Shape 19"/>
          <p:cNvSpPr/>
          <p:nvPr/>
        </p:nvSpPr>
        <p:spPr>
          <a:xfrm>
            <a:off x="3017520" y="5074920"/>
            <a:ext cx="685800" cy="6858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28" name="Image 6" descr="/home/claude/vigenere_ppt/icons/lo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8970" y="5246370"/>
            <a:ext cx="342900" cy="3429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78892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443984" y="5312664"/>
            <a:ext cx="393192" cy="201168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31" name="Shape 22"/>
          <p:cNvSpPr/>
          <p:nvPr/>
        </p:nvSpPr>
        <p:spPr>
          <a:xfrm>
            <a:off x="4892040" y="5074920"/>
            <a:ext cx="685800" cy="6858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32" name="Image 7" descr="/home/claude/vigenere_ppt/icons/databas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3490" y="5246370"/>
            <a:ext cx="342900" cy="3429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66344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7178040" y="1325880"/>
            <a:ext cx="4434840" cy="4846320"/>
          </a:xfrm>
          <a:prstGeom prst="roundRect">
            <a:avLst>
              <a:gd name="adj" fmla="val 2474"/>
            </a:avLst>
          </a:prstGeom>
          <a:solidFill>
            <a:srgbClr val="1B4F72"/>
          </a:solidFill>
          <a:ln/>
        </p:spPr>
      </p:sp>
      <p:sp>
        <p:nvSpPr>
          <p:cNvPr id="35" name="Text 25"/>
          <p:cNvSpPr/>
          <p:nvPr/>
        </p:nvSpPr>
        <p:spPr>
          <a:xfrm>
            <a:off x="7498080" y="1600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CRYPTOGRAPHY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7498080" y="2103120"/>
            <a:ext cx="548640" cy="54864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37" name="Image 8" descr="/home/claude/vigenere_ppt/icons/ey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9754" y="2234794"/>
            <a:ext cx="285293" cy="285293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183880" y="2075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39" name="Text 28"/>
          <p:cNvSpPr/>
          <p:nvPr/>
        </p:nvSpPr>
        <p:spPr>
          <a:xfrm>
            <a:off x="8183880" y="23500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parties can access the information.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7498080" y="3108960"/>
            <a:ext cx="548640" cy="54864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41" name="Image 9" descr="/home/claude/vigenere_ppt/icons/checkcircle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9754" y="3240634"/>
            <a:ext cx="285293" cy="285293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8183880" y="30815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43" name="Text 31"/>
          <p:cNvSpPr/>
          <p:nvPr/>
        </p:nvSpPr>
        <p:spPr>
          <a:xfrm>
            <a:off x="8183880" y="3355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cannot be altered without detection.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7498080" y="4114800"/>
            <a:ext cx="548640" cy="54864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45" name="Image 10" descr="/home/claude/vigenere_ppt/icons/fingerprint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9754" y="4246474"/>
            <a:ext cx="285293" cy="285293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183880" y="4087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47" name="Text 34"/>
          <p:cNvSpPr/>
          <p:nvPr/>
        </p:nvSpPr>
        <p:spPr>
          <a:xfrm>
            <a:off x="8183880" y="4361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identity of the communicating parties.</a:t>
            </a:r>
            <a:endParaRPr lang="en-US" sz="1150" dirty="0"/>
          </a:p>
        </p:txBody>
      </p:sp>
      <p:sp>
        <p:nvSpPr>
          <p:cNvPr id="48" name="Shape 35"/>
          <p:cNvSpPr/>
          <p:nvPr/>
        </p:nvSpPr>
        <p:spPr>
          <a:xfrm>
            <a:off x="7498080" y="5120640"/>
            <a:ext cx="548640" cy="54864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49" name="Image 11" descr="/home/claude/vigenere_ppt/icons/signature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9754" y="5252314"/>
            <a:ext cx="285293" cy="285293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8183880" y="50932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chemeClr val="bg1"/>
                </a:solidFill>
              </a:rPr>
              <a:t>Availability</a:t>
            </a:r>
            <a:endParaRPr lang="en-US" sz="1500" b="1" dirty="0">
              <a:solidFill>
                <a:schemeClr val="bg1"/>
              </a:solidFill>
            </a:endParaRPr>
          </a:p>
        </p:txBody>
      </p:sp>
      <p:sp>
        <p:nvSpPr>
          <p:cNvPr id="51" name="Text 37"/>
          <p:cNvSpPr/>
          <p:nvPr/>
        </p:nvSpPr>
        <p:spPr>
          <a:xfrm>
            <a:off x="8183880" y="53675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 smtClean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service to authorized owners</a:t>
            </a:r>
            <a:r>
              <a:rPr lang="en-US" sz="1150" dirty="0" smtClean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CRYPTOGRAPHY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Vigenère Cipher?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Vigenère Cipher 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classical encryption technique that encrypts alphabetic text using a repeating keyword, shifting each letter of the plaintext by an amount determined by the corresponding letter of the key.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7040880" cy="960120"/>
          </a:xfrm>
          <a:prstGeom prst="roundRect">
            <a:avLst>
              <a:gd name="adj" fmla="val 9524"/>
            </a:avLst>
          </a:prstGeom>
          <a:solidFill>
            <a:srgbClr val="EAF2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788920"/>
            <a:ext cx="594360" cy="59436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8" name="Image 0" descr="/home/claude/vigenere_ppt/icons/rando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931566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75234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Symmetric Key Encryption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3063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secret key is used for both encryption and decryption.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1371600"/>
            <a:ext cx="3291840" cy="3291840"/>
          </a:xfrm>
          <a:prstGeom prst="ellipse">
            <a:avLst/>
          </a:prstGeom>
          <a:solidFill>
            <a:srgbClr val="F4F9FC"/>
          </a:solidFill>
          <a:ln/>
        </p:spPr>
      </p:sp>
      <p:sp>
        <p:nvSpPr>
          <p:cNvPr id="12" name="Shape 9"/>
          <p:cNvSpPr/>
          <p:nvPr/>
        </p:nvSpPr>
        <p:spPr>
          <a:xfrm>
            <a:off x="8869680" y="1920240"/>
            <a:ext cx="2194560" cy="2194560"/>
          </a:xfrm>
          <a:prstGeom prst="ellipse">
            <a:avLst/>
          </a:prstGeom>
          <a:ln w="19050">
            <a:solidFill>
              <a:srgbClr val="AED6F1"/>
            </a:solidFill>
            <a:prstDash val="solid"/>
          </a:ln>
        </p:spPr>
      </p:sp>
      <p:pic>
        <p:nvPicPr>
          <p:cNvPr id="13" name="Image 1" descr="/home/claude/vigenere_ppt/icons/key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423160"/>
            <a:ext cx="1188720" cy="11887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415388" y="3977640"/>
            <a:ext cx="2240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101600" dist="38100" dir="5400000" algn="bl" rotWithShape="0">
              <a:srgbClr val="1B4F7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15488" y="425196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16" name="Image 2" descr="/home/claude/vigenere_ppt/icon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5508" y="44119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52548" y="5029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598268" y="5349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readable message before encryption.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75708" y="3977640"/>
            <a:ext cx="2240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101600" dist="38100" dir="5400000" algn="bl" rotWithShape="0">
              <a:srgbClr val="1B4F7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75808" y="425196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21" name="Image 3" descr="/home/claude/vigenere_ppt/icons/ke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828" y="4411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12868" y="5029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Key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158588" y="5349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keyword that drives the letter shift.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536028" y="3977640"/>
            <a:ext cx="2240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101600" dist="38100" dir="5400000" algn="bl" rotWithShape="0">
              <a:srgbClr val="1B4F7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336128" y="425196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26" name="Image 4" descr="/home/claude/vigenere_ppt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148" y="44119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73188" y="5029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718908" y="5349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Scrambled, unreadable output after encryption.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Vigenère Cipher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Plaintext:  </a:t>
            </a:r>
            <a:r>
              <a:rPr lang="en-US" sz="15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     </a:t>
            </a:r>
            <a:r>
              <a:rPr lang="en-US" sz="15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 </a:t>
            </a:r>
            <a:r>
              <a:rPr lang="en-US" sz="15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KEYKE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1508760"/>
        </p:xfrm>
        <a:graphic>
          <a:graphicData uri="http://schemas.openxmlformats.org/drawingml/2006/table">
            <a:tbl>
              <a:tblPr/>
              <a:tblGrid>
                <a:gridCol w="1463040"/>
                <a:gridCol w="1060704"/>
                <a:gridCol w="1060704"/>
                <a:gridCol w="1060704"/>
                <a:gridCol w="1060704"/>
                <a:gridCol w="1060704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C3E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C3E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C3E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C3E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C3E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D6D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D6D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D6D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D6D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D6D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611880"/>
            <a:ext cx="6766560" cy="1417320"/>
          </a:xfrm>
          <a:prstGeom prst="roundRect">
            <a:avLst>
              <a:gd name="adj" fmla="val 6452"/>
            </a:avLst>
          </a:prstGeom>
          <a:solidFill>
            <a:srgbClr val="F4F9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77647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785616" y="4233672"/>
            <a:ext cx="292608" cy="219456"/>
          </a:xfrm>
          <a:prstGeom prst="downArrow">
            <a:avLst/>
          </a:prstGeom>
          <a:solidFill>
            <a:srgbClr val="2E86C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480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RIJVS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635240" y="13258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letter of the plaintext is shifted forward through the alphabet by an amount set by the corresponding letter of the key — then the sequence repeats.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29600" y="2788920"/>
            <a:ext cx="2834640" cy="2834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ED6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37192" y="2679192"/>
            <a:ext cx="219456" cy="21945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1"/>
          <p:cNvSpPr/>
          <p:nvPr/>
        </p:nvSpPr>
        <p:spPr>
          <a:xfrm>
            <a:off x="9418320" y="26746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0245852" y="2869077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6" name="Text 13"/>
          <p:cNvSpPr/>
          <p:nvPr/>
        </p:nvSpPr>
        <p:spPr>
          <a:xfrm>
            <a:off x="10126980" y="286450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764627" y="3387852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8" name="Text 15"/>
          <p:cNvSpPr/>
          <p:nvPr/>
        </p:nvSpPr>
        <p:spPr>
          <a:xfrm>
            <a:off x="10645755" y="33832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0954512" y="4096512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0" name="Text 17"/>
          <p:cNvSpPr/>
          <p:nvPr/>
        </p:nvSpPr>
        <p:spPr>
          <a:xfrm>
            <a:off x="10835640" y="40919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0764627" y="4805172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2" name="Text 19"/>
          <p:cNvSpPr/>
          <p:nvPr/>
        </p:nvSpPr>
        <p:spPr>
          <a:xfrm>
            <a:off x="10645755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0245852" y="5323947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4" name="Text 21"/>
          <p:cNvSpPr/>
          <p:nvPr/>
        </p:nvSpPr>
        <p:spPr>
          <a:xfrm>
            <a:off x="10126980" y="531937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9537192" y="5513832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6" name="Text 23"/>
          <p:cNvSpPr/>
          <p:nvPr/>
        </p:nvSpPr>
        <p:spPr>
          <a:xfrm>
            <a:off x="9418320" y="55092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828532" y="5323947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8" name="Text 25"/>
          <p:cNvSpPr/>
          <p:nvPr/>
        </p:nvSpPr>
        <p:spPr>
          <a:xfrm>
            <a:off x="8709660" y="531937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309757" y="4805172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0" name="Text 27"/>
          <p:cNvSpPr/>
          <p:nvPr/>
        </p:nvSpPr>
        <p:spPr>
          <a:xfrm>
            <a:off x="8190885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119872" y="4096512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2" name="Text 29"/>
          <p:cNvSpPr/>
          <p:nvPr/>
        </p:nvSpPr>
        <p:spPr>
          <a:xfrm>
            <a:off x="8001000" y="40919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309757" y="3387852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4" name="Text 31"/>
          <p:cNvSpPr/>
          <p:nvPr/>
        </p:nvSpPr>
        <p:spPr>
          <a:xfrm>
            <a:off x="8190885" y="33832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828532" y="2869077"/>
            <a:ext cx="219456" cy="2194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6" name="Text 33"/>
          <p:cNvSpPr/>
          <p:nvPr/>
        </p:nvSpPr>
        <p:spPr>
          <a:xfrm>
            <a:off x="8709660" y="286450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9281160" y="3840480"/>
            <a:ext cx="731520" cy="73152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38" name="Image 0" descr="/home/claude/vigenere_ppt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40233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Vigenère Cipher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1452" y="141732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762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5248" y="1581912"/>
            <a:ext cx="566928" cy="566928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7" name="Image 0" descr="/home/claude/vigenere_ppt/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80" y="1723644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4604" y="22585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34260" y="1984248"/>
            <a:ext cx="347472" cy="274320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10" name="Shape 7"/>
          <p:cNvSpPr/>
          <p:nvPr/>
        </p:nvSpPr>
        <p:spPr>
          <a:xfrm>
            <a:off x="2900020" y="141732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762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3816" y="1581912"/>
            <a:ext cx="566928" cy="566928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12" name="Image 1" descr="/home/claude/vigenere_ppt/icons/ke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548" y="1723644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73172" y="22585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Secret Key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92828" y="1984248"/>
            <a:ext cx="347472" cy="274320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15" name="Shape 11"/>
          <p:cNvSpPr/>
          <p:nvPr/>
        </p:nvSpPr>
        <p:spPr>
          <a:xfrm>
            <a:off x="5158588" y="141732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762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12384" y="1581912"/>
            <a:ext cx="566928" cy="566928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17" name="Image 2" descr="/home/claude/vigenere_ppt/icon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116" y="1723644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31740" y="22585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Algorithm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051396" y="1984248"/>
            <a:ext cx="347472" cy="274320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20" name="Shape 15"/>
          <p:cNvSpPr/>
          <p:nvPr/>
        </p:nvSpPr>
        <p:spPr>
          <a:xfrm>
            <a:off x="7417156" y="141732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762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70952" y="1581912"/>
            <a:ext cx="566928" cy="566928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22" name="Image 3" descr="/home/claude/vigenere_ppt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2684" y="1723644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0308" y="22585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309964" y="1984248"/>
            <a:ext cx="347472" cy="274320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25" name="Shape 19"/>
          <p:cNvSpPr/>
          <p:nvPr/>
        </p:nvSpPr>
        <p:spPr>
          <a:xfrm>
            <a:off x="9675724" y="141732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762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329520" y="1581912"/>
            <a:ext cx="566928" cy="566928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27" name="Image 4" descr="/home/claude/vigenere_ppt/icons/tow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1252" y="1723644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48876" y="22585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1770736" y="39776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762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424532" y="4142232"/>
            <a:ext cx="566928" cy="566928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31" name="Image 5" descr="/home/claude/vigenere_ppt/icons/us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6264" y="4283964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843888" y="481888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3663544" y="4544568"/>
            <a:ext cx="347472" cy="274320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34" name="Shape 26"/>
          <p:cNvSpPr/>
          <p:nvPr/>
        </p:nvSpPr>
        <p:spPr>
          <a:xfrm>
            <a:off x="4029304" y="39776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762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683100" y="4142232"/>
            <a:ext cx="566928" cy="566928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36" name="Image 6" descr="/home/claude/vigenere_ppt/icons/ke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832" y="4283964"/>
            <a:ext cx="283464" cy="28346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102456" y="481888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Secret Key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5922112" y="4544568"/>
            <a:ext cx="347472" cy="274320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39" name="Shape 30"/>
          <p:cNvSpPr/>
          <p:nvPr/>
        </p:nvSpPr>
        <p:spPr>
          <a:xfrm>
            <a:off x="6287872" y="39776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762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941668" y="4142232"/>
            <a:ext cx="566928" cy="566928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41" name="Image 7" descr="/home/claude/vigenere_ppt/icons/unlo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3400" y="4283964"/>
            <a:ext cx="283464" cy="28346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361024" y="481888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Algorithm</a:t>
            </a:r>
            <a:endParaRPr lang="en-US" sz="1150" dirty="0"/>
          </a:p>
        </p:txBody>
      </p:sp>
      <p:sp>
        <p:nvSpPr>
          <p:cNvPr id="43" name="Shape 33"/>
          <p:cNvSpPr/>
          <p:nvPr/>
        </p:nvSpPr>
        <p:spPr>
          <a:xfrm>
            <a:off x="8180680" y="4544568"/>
            <a:ext cx="347472" cy="274320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44" name="Shape 34"/>
          <p:cNvSpPr/>
          <p:nvPr/>
        </p:nvSpPr>
        <p:spPr>
          <a:xfrm>
            <a:off x="8546440" y="39776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762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9200236" y="4142232"/>
            <a:ext cx="566928" cy="566928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46" name="Image 8" descr="/home/claude/vigenere_ppt/icons/checkcircl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1968" y="4283964"/>
            <a:ext cx="283464" cy="28346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619592" y="481888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Plaintext</a:t>
            </a:r>
            <a:endParaRPr lang="en-US" sz="1150" dirty="0"/>
          </a:p>
        </p:txBody>
      </p:sp>
      <p:sp>
        <p:nvSpPr>
          <p:cNvPr id="48" name="Shape 37"/>
          <p:cNvSpPr/>
          <p:nvPr/>
        </p:nvSpPr>
        <p:spPr>
          <a:xfrm>
            <a:off x="10612984" y="2834640"/>
            <a:ext cx="0" cy="32004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2707996" y="3154680"/>
            <a:ext cx="7904988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2589124" y="3154680"/>
            <a:ext cx="237744" cy="822960"/>
          </a:xfrm>
          <a:prstGeom prst="downArrow">
            <a:avLst/>
          </a:prstGeom>
          <a:solidFill>
            <a:srgbClr val="2E86C1"/>
          </a:solidFill>
          <a:ln/>
        </p:spPr>
      </p:sp>
      <p:sp>
        <p:nvSpPr>
          <p:cNvPr id="51" name="Text 4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travels from sender to receiver; decryption succeeds only with the identical secret key.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Implementation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858000" cy="4892040"/>
          </a:xfrm>
          <a:prstGeom prst="roundRect">
            <a:avLst>
              <a:gd name="adj" fmla="val 1682"/>
            </a:avLst>
          </a:prstGeom>
          <a:solidFill>
            <a:srgbClr val="1B2733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508760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508760"/>
            <a:ext cx="128016" cy="12801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1508760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63093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vigenere_encrypt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(text, key):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text.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key.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</a:t>
            </a:r>
            <a:r>
              <a:rPr lang="en-US" sz="1100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i, char </a:t>
            </a:r>
            <a:r>
              <a:rPr lang="en-US" sz="11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(text):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shift =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(key[i %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(key)]) -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+=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(char) -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shift) % </a:t>
            </a:r>
            <a:r>
              <a:rPr lang="en-US" sz="1100" dirty="0">
                <a:solidFill>
                  <a:srgbClr val="F1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vigenere_decrypt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(text, key):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text.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key.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</a:t>
            </a:r>
            <a:r>
              <a:rPr lang="en-US" sz="1100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i, char </a:t>
            </a:r>
            <a:r>
              <a:rPr lang="en-US" sz="11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(text):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shift =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(key[i %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(key)]) -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+=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(char) -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 shift) % </a:t>
            </a:r>
            <a:r>
              <a:rPr lang="en-US" sz="1100" dirty="0">
                <a:solidFill>
                  <a:srgbClr val="F1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100" dirty="0">
                <a:solidFill>
                  <a:srgbClr val="82E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A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</a:t>
            </a:r>
            <a:endParaRPr lang="en-US" sz="1100" dirty="0"/>
          </a:p>
        </p:txBody>
      </p:sp>
      <p:pic>
        <p:nvPicPr>
          <p:cNvPr id="10" name="Image 0" descr="/home/claude/vigenere_ppt/icons/python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371600"/>
            <a:ext cx="1188720" cy="1188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680960" y="288036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EAF2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3081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55280" y="347472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Message:  </a:t>
            </a:r>
            <a:r>
              <a:rPr lang="en-US" sz="1250" b="1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
</a:t>
            </a:r>
            <a:r>
              <a:rPr lang="en-US" sz="125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Key:  </a:t>
            </a:r>
            <a:r>
              <a:rPr lang="en-US" sz="1250" b="1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
</a:t>
            </a:r>
            <a:r>
              <a:rPr lang="en-US" sz="125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Encrypted Message:  </a:t>
            </a:r>
            <a:r>
              <a:rPr lang="en-US" sz="12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RIJVS
</a:t>
            </a:r>
            <a:r>
              <a:rPr lang="en-US" sz="125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Decrypted Message:  </a:t>
            </a:r>
            <a:r>
              <a:rPr lang="en-US" sz="12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the Vigenère Cipher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9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7" name="Image 0" descr="/home/claude/vigenere_ppt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13741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62763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37360" y="21488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key patterns can be detected and exploited to recover the key length.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3716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9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1965960"/>
            <a:ext cx="685800" cy="6858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12" name="Image 1" descr="/home/claude/vigenere_ppt/icons/ba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130" y="213741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62763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Internet-Ready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452360" y="21488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suitable for modern internet-scale communication.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9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206240"/>
            <a:ext cx="685800" cy="6858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17" name="Image 2" descr="/home/claude/vigenere_ppt/icons/triang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" y="43776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38679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Cryptanalysis Resistance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737360" y="43891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quickly to modern computational cryptanalysis techniques.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9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0" y="4206240"/>
            <a:ext cx="685800" cy="6858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22" name="Image 3" descr="/home/claude/vigenere_ppt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130" y="437769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38679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452360" y="43891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in practice by stronger, mathematically robust encryption algorithms.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B4F72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57150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modern applications use advanced cryptographic algorithms such as AES and the Signal Protocol.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CRYPTOGRAPHY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WhatsApp Uses End-to-End Encryption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(E2EE)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Vigenère Cipher, WhatsApp uses modern cryptographic techniques to provide secure, scalable communication between billions of users.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6949440" cy="265176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Protocol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end-to-end encryption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Elliptic Curve Cryptography (ECC)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key exchange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encryption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HMAC-SHA256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home/claude/vigenere_ppt/icons/mobil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828800"/>
            <a:ext cx="1005840" cy="1005840"/>
          </a:xfrm>
          <a:prstGeom prst="rect">
            <a:avLst/>
          </a:prstGeom>
        </p:spPr>
      </p:pic>
      <p:pic>
        <p:nvPicPr>
          <p:cNvPr id="7" name="Image 1" descr="/home/claude/vigenere_ppt/icons/mobil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4206240"/>
            <a:ext cx="1005840" cy="10058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915400" y="2697480"/>
            <a:ext cx="1691640" cy="1508760"/>
          </a:xfrm>
          <a:prstGeom prst="line">
            <a:avLst/>
          </a:prstGeom>
          <a:noFill/>
          <a:ln w="25400">
            <a:solidFill>
              <a:srgbClr val="2E86C1"/>
            </a:solidFill>
            <a:prstDash val="dash"/>
          </a:ln>
        </p:spPr>
      </p:sp>
      <p:sp>
        <p:nvSpPr>
          <p:cNvPr id="11" name="Shape 6"/>
          <p:cNvSpPr/>
          <p:nvPr/>
        </p:nvSpPr>
        <p:spPr>
          <a:xfrm>
            <a:off x="9372600" y="3246120"/>
            <a:ext cx="594360" cy="59436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12" name="Image 2" descr="/home/claude/vigenere_ppt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246" y="3388766"/>
            <a:ext cx="309067" cy="3090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35240" y="5349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Channel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Encryption Process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2609"/>
            </a:avLst>
          </a:prstGeom>
          <a:solidFill>
            <a:srgbClr val="F4F9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2609"/>
            </a:avLst>
          </a:prstGeom>
          <a:solidFill>
            <a:srgbClr val="F4F9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2609"/>
            </a:avLst>
          </a:prstGeom>
          <a:solidFill>
            <a:srgbClr val="F4F9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645920"/>
            <a:ext cx="402336" cy="40233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636776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777240" y="5349240"/>
            <a:ext cx="3048000" cy="68580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/>
        </p:spPr>
      </p:sp>
      <p:sp>
        <p:nvSpPr>
          <p:cNvPr id="22" name="Text 17"/>
          <p:cNvSpPr/>
          <p:nvPr/>
        </p:nvSpPr>
        <p:spPr>
          <a:xfrm>
            <a:off x="914400" y="534924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never leaves the device.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84192" y="1645920"/>
            <a:ext cx="402336" cy="40233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4" name="Text 19"/>
          <p:cNvSpPr/>
          <p:nvPr/>
        </p:nvSpPr>
        <p:spPr>
          <a:xfrm>
            <a:off x="458419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105400" y="1636776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Chat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4910328" y="2606040"/>
            <a:ext cx="566928" cy="566928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27" name="Image 3" descr="/home/claude/vigenere_ppt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2747772"/>
            <a:ext cx="283464" cy="2834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27448" y="321868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95544" y="2807208"/>
            <a:ext cx="283464" cy="164592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30" name="Shape 24"/>
          <p:cNvSpPr/>
          <p:nvPr/>
        </p:nvSpPr>
        <p:spPr>
          <a:xfrm>
            <a:off x="5797296" y="2606040"/>
            <a:ext cx="566928" cy="566928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31" name="Image 4" descr="/home/claude/vigenere_ppt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747772"/>
            <a:ext cx="283464" cy="28346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14416" y="321868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382512" y="2807208"/>
            <a:ext cx="283464" cy="164592"/>
          </a:xfrm>
          <a:prstGeom prst="rightArrow">
            <a:avLst/>
          </a:prstGeom>
          <a:solidFill>
            <a:srgbClr val="AED6F1"/>
          </a:solidFill>
          <a:ln/>
        </p:spPr>
      </p:sp>
      <p:sp>
        <p:nvSpPr>
          <p:cNvPr id="34" name="Shape 27"/>
          <p:cNvSpPr/>
          <p:nvPr/>
        </p:nvSpPr>
        <p:spPr>
          <a:xfrm>
            <a:off x="6684264" y="2606040"/>
            <a:ext cx="566928" cy="566928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35" name="Image 5" descr="/home/claude/vigenere_ppt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996" y="2747772"/>
            <a:ext cx="283464" cy="28346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01384" y="321868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4648200" y="3566160"/>
            <a:ext cx="286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downloads Bob's </a:t>
            </a: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</a:t>
            </a: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server.
</a:t>
            </a:r>
            <a:r>
              <a:rPr lang="en-US" sz="11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cannot read the messages.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4556760" y="5349240"/>
            <a:ext cx="3048000" cy="68580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/>
        </p:spPr>
      </p:sp>
      <p:sp>
        <p:nvSpPr>
          <p:cNvPr id="39" name="Text 31"/>
          <p:cNvSpPr/>
          <p:nvPr/>
        </p:nvSpPr>
        <p:spPr>
          <a:xfrm>
            <a:off x="4693920" y="534924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is set up before any message is sent.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8363712" y="1645920"/>
            <a:ext cx="402336" cy="40233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41" name="Text 33"/>
          <p:cNvSpPr/>
          <p:nvPr/>
        </p:nvSpPr>
        <p:spPr>
          <a:xfrm>
            <a:off x="8363712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8884920" y="1636776"/>
            <a:ext cx="254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Secret Creation</a:t>
            </a:r>
            <a:endParaRPr lang="en-US" sz="1350" dirty="0"/>
          </a:p>
        </p:txBody>
      </p:sp>
      <p:pic>
        <p:nvPicPr>
          <p:cNvPr id="43" name="Image 6" descr="/home/claude/vigenere_ppt/icons/lock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720" y="2286000"/>
            <a:ext cx="384048" cy="38404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811768" y="22677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pic>
        <p:nvPicPr>
          <p:cNvPr id="45" name="Image 7" descr="/home/claude/vigenere_ppt/icons/unloc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088" y="2286000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8336280" y="2706624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Private Key × Bob Public Key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9768840" y="2999232"/>
            <a:ext cx="182880" cy="164592"/>
          </a:xfrm>
          <a:prstGeom prst="downArrow">
            <a:avLst/>
          </a:prstGeom>
          <a:solidFill>
            <a:srgbClr val="AED6F1"/>
          </a:solidFill>
          <a:ln/>
        </p:spPr>
      </p:sp>
      <p:sp>
        <p:nvSpPr>
          <p:cNvPr id="48" name="Shape 38"/>
          <p:cNvSpPr/>
          <p:nvPr/>
        </p:nvSpPr>
        <p:spPr>
          <a:xfrm>
            <a:off x="8610600" y="3200400"/>
            <a:ext cx="2499360" cy="365760"/>
          </a:xfrm>
          <a:prstGeom prst="roundRect">
            <a:avLst>
              <a:gd name="adj" fmla="val 15000"/>
            </a:avLst>
          </a:prstGeom>
          <a:solidFill>
            <a:srgbClr val="2E86C1"/>
          </a:solidFill>
          <a:ln/>
        </p:spPr>
      </p:sp>
      <p:sp>
        <p:nvSpPr>
          <p:cNvPr id="49" name="Text 39"/>
          <p:cNvSpPr/>
          <p:nvPr/>
        </p:nvSpPr>
        <p:spPr>
          <a:xfrm>
            <a:off x="8610600" y="320040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Secret</a:t>
            </a:r>
            <a:endParaRPr lang="en-US" sz="1100" dirty="0"/>
          </a:p>
        </p:txBody>
      </p:sp>
      <p:pic>
        <p:nvPicPr>
          <p:cNvPr id="50" name="Image 8" descr="/home/claude/vigenere_ppt/icons/lock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720" y="3794760"/>
            <a:ext cx="384048" cy="38404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8811768" y="377647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pic>
        <p:nvPicPr>
          <p:cNvPr id="52" name="Image 9" descr="/home/claude/vigenere_ppt/icons/unloc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088" y="3794760"/>
            <a:ext cx="384048" cy="38404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8336280" y="4215384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Private Key × Alice Public Key</a:t>
            </a:r>
            <a:endParaRPr lang="en-US" sz="950" dirty="0"/>
          </a:p>
        </p:txBody>
      </p:sp>
      <p:sp>
        <p:nvSpPr>
          <p:cNvPr id="54" name="Shape 42"/>
          <p:cNvSpPr/>
          <p:nvPr/>
        </p:nvSpPr>
        <p:spPr>
          <a:xfrm>
            <a:off x="9768840" y="4507992"/>
            <a:ext cx="182880" cy="164592"/>
          </a:xfrm>
          <a:prstGeom prst="downArrow">
            <a:avLst/>
          </a:prstGeom>
          <a:solidFill>
            <a:srgbClr val="AED6F1"/>
          </a:solidFill>
          <a:ln/>
        </p:spPr>
      </p:sp>
      <p:sp>
        <p:nvSpPr>
          <p:cNvPr id="55" name="Shape 43"/>
          <p:cNvSpPr/>
          <p:nvPr/>
        </p:nvSpPr>
        <p:spPr>
          <a:xfrm>
            <a:off x="8610600" y="4709160"/>
            <a:ext cx="2499360" cy="365760"/>
          </a:xfrm>
          <a:prstGeom prst="roundRect">
            <a:avLst>
              <a:gd name="adj" fmla="val 15000"/>
            </a:avLst>
          </a:prstGeom>
          <a:solidFill>
            <a:srgbClr val="2E86C1"/>
          </a:solidFill>
          <a:ln/>
        </p:spPr>
      </p:sp>
      <p:sp>
        <p:nvSpPr>
          <p:cNvPr id="56" name="Text 44"/>
          <p:cNvSpPr/>
          <p:nvPr/>
        </p:nvSpPr>
        <p:spPr>
          <a:xfrm>
            <a:off x="8610600" y="470916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Shared Secret</a:t>
            </a:r>
            <a:endParaRPr lang="en-US" sz="1050" dirty="0"/>
          </a:p>
        </p:txBody>
      </p:sp>
      <p:sp>
        <p:nvSpPr>
          <p:cNvPr id="57" name="Shape 45"/>
          <p:cNvSpPr/>
          <p:nvPr/>
        </p:nvSpPr>
        <p:spPr>
          <a:xfrm>
            <a:off x="8336280" y="5440680"/>
            <a:ext cx="3048000" cy="594360"/>
          </a:xfrm>
          <a:prstGeom prst="roundRect">
            <a:avLst>
              <a:gd name="adj" fmla="val 9231"/>
            </a:avLst>
          </a:prstGeom>
          <a:solidFill>
            <a:srgbClr val="1B4F72"/>
          </a:solidFill>
          <a:ln/>
        </p:spPr>
      </p:sp>
      <p:sp>
        <p:nvSpPr>
          <p:cNvPr id="58" name="Text 46"/>
          <p:cNvSpPr/>
          <p:nvPr/>
        </p:nvSpPr>
        <p:spPr>
          <a:xfrm>
            <a:off x="8473440" y="544068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devices independently derive the same secret — it is never transmitted.</a:t>
            </a:r>
            <a:endParaRPr lang="en-US" sz="950" dirty="0"/>
          </a:p>
        </p:txBody>
      </p:sp>
      <p:sp>
        <p:nvSpPr>
          <p:cNvPr id="59" name="Text 13"/>
          <p:cNvSpPr/>
          <p:nvPr/>
        </p:nvSpPr>
        <p:spPr>
          <a:xfrm>
            <a:off x="668042" y="2537659"/>
            <a:ext cx="188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endParaRPr lang="en-US" sz="950" dirty="0"/>
          </a:p>
        </p:txBody>
      </p:sp>
      <p:sp>
        <p:nvSpPr>
          <p:cNvPr id="62" name="Rectangle 2"/>
          <p:cNvSpPr>
            <a:spLocks noChangeArrowheads="1"/>
          </p:cNvSpPr>
          <p:nvPr/>
        </p:nvSpPr>
        <p:spPr bwMode="auto">
          <a:xfrm>
            <a:off x="928116" y="2305368"/>
            <a:ext cx="262128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When you install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WhatsApp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Your phone generates a 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Public Key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Your phone also generates a 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Private Key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Your Phone Public Key → Shared with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WhatsApp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Server Private Key → Stored only on your phone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The 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private key never leaves your device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Encryption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635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1545336"/>
            <a:ext cx="457200" cy="4572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7" name="Image 0" descr="/home/claude/vigenere_ppt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5506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4904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20924" y="2148840"/>
            <a:ext cx="164592" cy="164592"/>
          </a:xfrm>
          <a:prstGeom prst="downArrow">
            <a:avLst/>
          </a:prstGeom>
          <a:solidFill>
            <a:srgbClr val="AED6F1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3317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635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41832" y="2459736"/>
            <a:ext cx="457200" cy="4572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12" name="Image 1" descr="/home/claude/vigenere_ppt/icons/envelop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56946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4048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Message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820924" y="3063240"/>
            <a:ext cx="164592" cy="164592"/>
          </a:xfrm>
          <a:prstGeom prst="downArrow">
            <a:avLst/>
          </a:prstGeom>
          <a:solidFill>
            <a:srgbClr val="AED6F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2461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635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832" y="3374136"/>
            <a:ext cx="457200" cy="4572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17" name="Image 2" descr="/home/claude/vigenere_ppt/icon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48386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3192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820924" y="3977640"/>
            <a:ext cx="164592" cy="164592"/>
          </a:xfrm>
          <a:prstGeom prst="downArrow">
            <a:avLst/>
          </a:prstGeom>
          <a:solidFill>
            <a:srgbClr val="AED6F1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1605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635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1832" y="4288536"/>
            <a:ext cx="457200" cy="4572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22" name="Image 3" descr="/home/claude/vigenere_ppt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39826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2336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Message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178040" y="14173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635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96912" y="1545336"/>
            <a:ext cx="457200" cy="4572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26" name="Image 4" descr="/home/claude/vigenere_ppt/icons/serv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165506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63840" y="149047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Server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863840" y="1801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forwards data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176004" y="2148840"/>
            <a:ext cx="164592" cy="164592"/>
          </a:xfrm>
          <a:prstGeom prst="downArrow">
            <a:avLst/>
          </a:prstGeom>
          <a:solidFill>
            <a:srgbClr val="AED6F1"/>
          </a:solidFill>
          <a:ln/>
        </p:spPr>
      </p:sp>
      <p:sp>
        <p:nvSpPr>
          <p:cNvPr id="30" name="Shape 23"/>
          <p:cNvSpPr/>
          <p:nvPr/>
        </p:nvSpPr>
        <p:spPr>
          <a:xfrm>
            <a:off x="7178040" y="23317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635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296912" y="2459736"/>
            <a:ext cx="457200" cy="4572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32" name="Image 5" descr="/home/claude/vigenere_ppt/icons/us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2569464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863840" y="24048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9176004" y="3063240"/>
            <a:ext cx="164592" cy="164592"/>
          </a:xfrm>
          <a:prstGeom prst="downArrow">
            <a:avLst/>
          </a:prstGeom>
          <a:solidFill>
            <a:srgbClr val="AED6F1"/>
          </a:solidFill>
          <a:ln/>
        </p:spPr>
      </p:sp>
      <p:sp>
        <p:nvSpPr>
          <p:cNvPr id="35" name="Shape 27"/>
          <p:cNvSpPr/>
          <p:nvPr/>
        </p:nvSpPr>
        <p:spPr>
          <a:xfrm>
            <a:off x="7178040" y="32461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635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296912" y="3374136"/>
            <a:ext cx="457200" cy="4572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37" name="Image 6" descr="/home/claude/vigenere_ppt/icons/unlo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3483864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863840" y="33192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Decryption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9176004" y="3977640"/>
            <a:ext cx="164592" cy="164592"/>
          </a:xfrm>
          <a:prstGeom prst="downArrow">
            <a:avLst/>
          </a:prstGeom>
          <a:solidFill>
            <a:srgbClr val="AED6F1"/>
          </a:solidFill>
          <a:ln/>
        </p:spPr>
      </p:sp>
      <p:sp>
        <p:nvSpPr>
          <p:cNvPr id="40" name="Shape 31"/>
          <p:cNvSpPr/>
          <p:nvPr/>
        </p:nvSpPr>
        <p:spPr>
          <a:xfrm>
            <a:off x="7178040" y="41605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6E4F0"/>
            </a:solidFill>
            <a:prstDash val="solid"/>
          </a:ln>
          <a:effectLst>
            <a:outerShdw blurRad="63500" dist="25400" dir="5400000" algn="bl" rotWithShape="0">
              <a:srgbClr val="1B4F72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296912" y="4288536"/>
            <a:ext cx="457200" cy="45720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42" name="Image 7" descr="/home/claude/vigenere_ppt/icons/checkcircl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4398264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863840" y="42336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Message</a:t>
            </a:r>
            <a:endParaRPr lang="en-US" sz="1250" dirty="0"/>
          </a:p>
        </p:txBody>
      </p:sp>
      <p:sp>
        <p:nvSpPr>
          <p:cNvPr id="46" name="Shape 36"/>
          <p:cNvSpPr/>
          <p:nvPr/>
        </p:nvSpPr>
        <p:spPr>
          <a:xfrm>
            <a:off x="9157716" y="5193792"/>
            <a:ext cx="201168" cy="0"/>
          </a:xfrm>
          <a:prstGeom prst="downArrow">
            <a:avLst/>
          </a:prstGeom>
          <a:solidFill>
            <a:srgbClr val="2E86C1"/>
          </a:solidFill>
          <a:ln/>
        </p:spPr>
      </p:sp>
      <p:sp>
        <p:nvSpPr>
          <p:cNvPr id="47" name="Shape 37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/>
        </p:spPr>
      </p:sp>
      <p:sp>
        <p:nvSpPr>
          <p:cNvPr id="48" name="Text 38"/>
          <p:cNvSpPr/>
          <p:nvPr/>
        </p:nvSpPr>
        <p:spPr>
          <a:xfrm>
            <a:off x="822960" y="5458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49" name="Text 39"/>
          <p:cNvSpPr/>
          <p:nvPr/>
        </p:nvSpPr>
        <p:spPr>
          <a:xfrm>
            <a:off x="822960" y="57607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encrypted before leaving the sender's device.</a:t>
            </a:r>
            <a:endParaRPr lang="en-US" sz="1150" dirty="0"/>
          </a:p>
        </p:txBody>
      </p:sp>
      <p:sp>
        <p:nvSpPr>
          <p:cNvPr id="50" name="Text 40"/>
          <p:cNvSpPr/>
          <p:nvPr/>
        </p:nvSpPr>
        <p:spPr>
          <a:xfrm>
            <a:off x="6309360" y="57607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servers cannot read encrypted messages.</a:t>
            </a:r>
            <a:endParaRPr lang="en-US" sz="1150" dirty="0"/>
          </a:p>
        </p:txBody>
      </p:sp>
      <p:sp>
        <p:nvSpPr>
          <p:cNvPr id="51" name="Text 41"/>
          <p:cNvSpPr/>
          <p:nvPr/>
        </p:nvSpPr>
        <p:spPr>
          <a:xfrm>
            <a:off x="822960" y="608990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intended recipient can decrypt the message.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6309360" y="608990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true End-to-End Encryption.</a:t>
            </a:r>
            <a:endParaRPr lang="en-US" sz="1150" dirty="0"/>
          </a:p>
        </p:txBody>
      </p:sp>
      <p:cxnSp>
        <p:nvCxnSpPr>
          <p:cNvPr id="58" name="Elbow Connector 57"/>
          <p:cNvCxnSpPr>
            <a:stCxn id="20" idx="2"/>
            <a:endCxn id="24" idx="1"/>
          </p:cNvCxnSpPr>
          <p:nvPr/>
        </p:nvCxnSpPr>
        <p:spPr>
          <a:xfrm rot="5400000" flipH="1" flipV="1">
            <a:off x="3490722" y="1186434"/>
            <a:ext cx="3099816" cy="4274820"/>
          </a:xfrm>
          <a:prstGeom prst="bentConnector4">
            <a:avLst>
              <a:gd name="adj1" fmla="val -7375"/>
              <a:gd name="adj2" fmla="val 69496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680687" y="3203410"/>
            <a:ext cx="2715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smtClean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37271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786</Words>
  <Application>Microsoft Office PowerPoint</Application>
  <PresentationFormat>Widescreen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4</cp:revision>
  <dcterms:created xsi:type="dcterms:W3CDTF">2026-07-15T03:47:10Z</dcterms:created>
  <dcterms:modified xsi:type="dcterms:W3CDTF">2026-07-15T04:10:26Z</dcterms:modified>
</cp:coreProperties>
</file>